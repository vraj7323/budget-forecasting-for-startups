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7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1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D5D080-92CB-4A5C-8982-2F5460D82172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7C7648-08F4-49DC-BE2D-6837B862BE1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01126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7C7648-08F4-49DC-BE2D-6837B862BE1D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37727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BDFE-5AEE-4B77-8A82-31987A29FDAD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B140F-3586-4A3C-9E1B-0A75B3B7D4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0832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BDFE-5AEE-4B77-8A82-31987A29FDAD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B140F-3586-4A3C-9E1B-0A75B3B7D4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6858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BDFE-5AEE-4B77-8A82-31987A29FDAD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B140F-3586-4A3C-9E1B-0A75B3B7D4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8075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BDFE-5AEE-4B77-8A82-31987A29FDAD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B140F-3586-4A3C-9E1B-0A75B3B7D4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0845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BDFE-5AEE-4B77-8A82-31987A29FDAD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B140F-3586-4A3C-9E1B-0A75B3B7D4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28117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BDFE-5AEE-4B77-8A82-31987A29FDAD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B140F-3586-4A3C-9E1B-0A75B3B7D4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3544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BDFE-5AEE-4B77-8A82-31987A29FDAD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B140F-3586-4A3C-9E1B-0A75B3B7D4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7913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BDFE-5AEE-4B77-8A82-31987A29FDAD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B140F-3586-4A3C-9E1B-0A75B3B7D4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1357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BDFE-5AEE-4B77-8A82-31987A29FDAD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B140F-3586-4A3C-9E1B-0A75B3B7D4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8383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BDFE-5AEE-4B77-8A82-31987A29FDAD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B140F-3586-4A3C-9E1B-0A75B3B7D4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0680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BDFE-5AEE-4B77-8A82-31987A29FDAD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B140F-3586-4A3C-9E1B-0A75B3B7D4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76237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BDFE-5AEE-4B77-8A82-31987A29FDAD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B140F-3586-4A3C-9E1B-0A75B3B7D4CD}" type="slidenum">
              <a:rPr lang="en-CA" smtClean="0"/>
              <a:t>‹#›</a:t>
            </a:fld>
            <a:endParaRPr lang="en-CA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67113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BDFE-5AEE-4B77-8A82-31987A29FDAD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B140F-3586-4A3C-9E1B-0A75B3B7D4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0655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BDFE-5AEE-4B77-8A82-31987A29FDAD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B140F-3586-4A3C-9E1B-0A75B3B7D4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845006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BDFE-5AEE-4B77-8A82-31987A29FDAD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B140F-3586-4A3C-9E1B-0A75B3B7D4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2754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BDFE-5AEE-4B77-8A82-31987A29FDAD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B140F-3586-4A3C-9E1B-0A75B3B7D4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69796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BDFE-5AEE-4B77-8A82-31987A29FDAD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B140F-3586-4A3C-9E1B-0A75B3B7D4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7190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1.pn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7D3CBDFE-5AEE-4B77-8A82-31987A29FDAD}" type="datetimeFigureOut">
              <a:rPr lang="en-CA" smtClean="0"/>
              <a:t>2026-03-23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18AB140F-3586-4A3C-9E1B-0A75B3B7D4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86091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cpedia.org/chalkboard/b/budget-forecasting.html" TargetMode="External" /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8.xml" /><Relationship Id="rId4" Type="http://schemas.openxmlformats.org/officeDocument/2006/relationships/hyperlink" Target="https://creativecommons.org/licenses/by-sa/3.0/" TargetMode="Externa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4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contract%20adult" TargetMode="External" /><Relationship Id="rId2" Type="http://schemas.openxmlformats.org/officeDocument/2006/relationships/image" Target="../media/image4.jpg" /><Relationship Id="rId1" Type="http://schemas.openxmlformats.org/officeDocument/2006/relationships/slideLayout" Target="../slideLayouts/slideLayout4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dingdifferently.com/2020/10/16/action-plans-for-social-change/" TargetMode="External" /><Relationship Id="rId2" Type="http://schemas.openxmlformats.org/officeDocument/2006/relationships/image" Target="../media/image5.jpg" /><Relationship Id="rId1" Type="http://schemas.openxmlformats.org/officeDocument/2006/relationships/slideLayout" Target="../slideLayouts/slideLayout4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4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82AE190-B838-843C-61A0-8D4AE90AD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5887726" cy="5876144"/>
          </a:xfrm>
        </p:spPr>
        <p:txBody>
          <a:bodyPr/>
          <a:lstStyle/>
          <a:p>
            <a:r>
              <a:rPr lang="en-CA" b="1" dirty="0">
                <a:solidFill>
                  <a:schemeClr val="tx1"/>
                </a:solidFill>
              </a:rPr>
              <a:t>BUDGET</a:t>
            </a:r>
            <a:br>
              <a:rPr lang="en-CA" b="1" dirty="0">
                <a:solidFill>
                  <a:schemeClr val="tx1"/>
                </a:solidFill>
              </a:rPr>
            </a:br>
            <a:r>
              <a:rPr lang="en-CA" b="1" dirty="0">
                <a:solidFill>
                  <a:schemeClr val="tx1"/>
                </a:solidFill>
              </a:rPr>
              <a:t>	FORECASTING</a:t>
            </a:r>
            <a:br>
              <a:rPr lang="en-CA" b="1" dirty="0">
                <a:solidFill>
                  <a:schemeClr val="tx1"/>
                </a:solidFill>
              </a:rPr>
            </a:br>
            <a:r>
              <a:rPr lang="en-CA" b="1" dirty="0">
                <a:solidFill>
                  <a:schemeClr val="tx1"/>
                </a:solidFill>
              </a:rPr>
              <a:t>			     FOR</a:t>
            </a:r>
            <a:br>
              <a:rPr lang="en-CA" b="1" dirty="0">
                <a:solidFill>
                  <a:schemeClr val="tx1"/>
                </a:solidFill>
              </a:rPr>
            </a:br>
            <a:r>
              <a:rPr lang="en-CA" b="1" dirty="0">
                <a:solidFill>
                  <a:schemeClr val="tx1"/>
                </a:solidFill>
              </a:rPr>
              <a:t>			          STARTUPS</a:t>
            </a:r>
            <a:br>
              <a:rPr lang="en-CA" dirty="0">
                <a:solidFill>
                  <a:schemeClr val="tx1"/>
                </a:solidFill>
              </a:rPr>
            </a:br>
            <a:br>
              <a:rPr lang="en-CA" dirty="0">
                <a:solidFill>
                  <a:schemeClr val="tx1"/>
                </a:solidFill>
              </a:rPr>
            </a:br>
            <a:br>
              <a:rPr lang="en-CA" dirty="0"/>
            </a:br>
            <a:br>
              <a:rPr lang="en-CA" dirty="0"/>
            </a:br>
            <a:br>
              <a:rPr lang="en-CA" dirty="0"/>
            </a:br>
            <a:br>
              <a:rPr lang="en-CA" dirty="0"/>
            </a:br>
            <a:br>
              <a:rPr lang="en-CA" dirty="0"/>
            </a:br>
            <a:endParaRPr lang="en-CA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887F7129-3EEF-5DB8-A9C0-19717955D4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839346" y="0"/>
            <a:ext cx="6352654" cy="6858000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1FD5202-A9D8-79D1-C4F8-D3010CC39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5981076"/>
            <a:ext cx="5396458" cy="771992"/>
          </a:xfrm>
        </p:spPr>
        <p:txBody>
          <a:bodyPr>
            <a:normAutofit/>
          </a:bodyPr>
          <a:lstStyle/>
          <a:p>
            <a:pPr algn="ctr"/>
            <a:r>
              <a:rPr lang="en-CA" sz="1100" dirty="0">
                <a:solidFill>
                  <a:schemeClr val="tx1">
                    <a:lumMod val="95000"/>
                  </a:schemeClr>
                </a:solidFill>
              </a:rPr>
              <a:t>	                    BY</a:t>
            </a:r>
          </a:p>
          <a:p>
            <a:pPr algn="r"/>
            <a:r>
              <a:rPr lang="en-CA" dirty="0">
                <a:solidFill>
                  <a:schemeClr val="tx1">
                    <a:lumMod val="95000"/>
                  </a:schemeClr>
                </a:solidFill>
              </a:rPr>
              <a:t>VRAJ ANILBHAI PATEL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632117-0B8D-D416-08AC-C1E1B5342C18}"/>
              </a:ext>
            </a:extLst>
          </p:cNvPr>
          <p:cNvSpPr txBox="1"/>
          <p:nvPr/>
        </p:nvSpPr>
        <p:spPr>
          <a:xfrm>
            <a:off x="5887726" y="5067811"/>
            <a:ext cx="6172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900">
                <a:hlinkClick r:id="rId3" tooltip="https://www.picpedia.org/chalkboard/b/budget-forecasting.html"/>
              </a:rPr>
              <a:t>This Photo</a:t>
            </a:r>
            <a:r>
              <a:rPr lang="en-CA" sz="900"/>
              <a:t> by Unknown Author is licensed under </a:t>
            </a:r>
            <a:r>
              <a:rPr lang="en-CA" sz="900">
                <a:hlinkClick r:id="rId4" tooltip="https://creativecommons.org/licenses/by-sa/3.0/"/>
              </a:rPr>
              <a:t>CC BY-SA</a:t>
            </a:r>
            <a:endParaRPr lang="en-CA" sz="900"/>
          </a:p>
        </p:txBody>
      </p:sp>
    </p:spTree>
    <p:extLst>
      <p:ext uri="{BB962C8B-B14F-4D97-AF65-F5344CB8AC3E}">
        <p14:creationId xmlns:p14="http://schemas.microsoft.com/office/powerpoint/2010/main" val="3720223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062CE0E-1CE4-5080-D5BD-924F8A0F4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/>
              <a:t>BUDGET FORECASTING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5BFCCA-45A7-E587-93F1-E3AE99DDE5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4754" y="1825625"/>
            <a:ext cx="5770462" cy="4351338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CA" b="1" dirty="0"/>
              <a:t>MEANING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Budget forecasting is the process of estimating future financial performance</a:t>
            </a:r>
          </a:p>
          <a:p>
            <a:r>
              <a:rPr lang="en-CA" dirty="0"/>
              <a:t>Based on past data, trends, and assumptions</a:t>
            </a:r>
          </a:p>
          <a:p>
            <a:r>
              <a:rPr lang="en-CA" dirty="0"/>
              <a:t>Helps on past data, trends, and assumptions</a:t>
            </a:r>
          </a:p>
          <a:p>
            <a:r>
              <a:rPr lang="en-CA" dirty="0"/>
              <a:t>Helps in planning income , expenses, and cash flow</a:t>
            </a:r>
          </a:p>
          <a:p>
            <a:pPr marL="0" indent="0">
              <a:buNone/>
            </a:pPr>
            <a:endParaRPr lang="en-CA" sz="2400" dirty="0"/>
          </a:p>
          <a:p>
            <a:pPr marL="0" indent="0" algn="ctr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6E9F341-2DFA-58FF-B1B8-1FA4152B0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9839" y="1825625"/>
            <a:ext cx="5627321" cy="4351338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CA" b="1" dirty="0"/>
              <a:t>IMPORTANCE</a:t>
            </a:r>
          </a:p>
          <a:p>
            <a:pPr marL="0" indent="0" algn="ctr">
              <a:buNone/>
            </a:pPr>
            <a:endParaRPr lang="en-CA" b="1" dirty="0"/>
          </a:p>
          <a:p>
            <a:r>
              <a:rPr lang="en-CA" dirty="0"/>
              <a:t>📊 Helps in better financial planning</a:t>
            </a:r>
          </a:p>
          <a:p>
            <a:r>
              <a:rPr lang="en-CA" dirty="0"/>
              <a:t>💰 Ensures control over expenses</a:t>
            </a:r>
          </a:p>
          <a:p>
            <a:r>
              <a:rPr lang="en-CA" dirty="0"/>
              <a:t>📈 Supports decision-making</a:t>
            </a:r>
          </a:p>
          <a:p>
            <a:r>
              <a:rPr lang="en-CA" dirty="0"/>
              <a:t>⚠️ Reduces financial risks &amp; uncertainty</a:t>
            </a:r>
          </a:p>
          <a:p>
            <a:r>
              <a:rPr lang="en-CA" dirty="0"/>
              <a:t>🚀 Helps in achieving business growth</a:t>
            </a:r>
          </a:p>
        </p:txBody>
      </p:sp>
    </p:spTree>
    <p:extLst>
      <p:ext uri="{BB962C8B-B14F-4D97-AF65-F5344CB8AC3E}">
        <p14:creationId xmlns:p14="http://schemas.microsoft.com/office/powerpoint/2010/main" val="701613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3CBEF8A-B5EF-B002-9EB3-13E863134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21" y="224853"/>
            <a:ext cx="11353800" cy="1813808"/>
          </a:xfrm>
        </p:spPr>
        <p:txBody>
          <a:bodyPr>
            <a:noAutofit/>
          </a:bodyPr>
          <a:lstStyle/>
          <a:p>
            <a:r>
              <a:rPr lang="en-CA" sz="4500" dirty="0"/>
              <a:t>Why budget</a:t>
            </a:r>
            <a:br>
              <a:rPr lang="en-CA" sz="4500" dirty="0"/>
            </a:br>
            <a:r>
              <a:rPr lang="en-CA" sz="4500" dirty="0"/>
              <a:t>forecasting is </a:t>
            </a:r>
            <a:br>
              <a:rPr lang="en-CA" sz="4500" dirty="0"/>
            </a:br>
            <a:r>
              <a:rPr lang="en-CA" sz="4500" dirty="0"/>
              <a:t>Essential for startups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628EB24-9582-A6A9-DE57-036F7EB78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21" y="2338465"/>
            <a:ext cx="11233879" cy="41672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dirty="0"/>
              <a:t>THE IMPORTANCE OF ACCURATE FINANCIAL PLANNING</a:t>
            </a:r>
          </a:p>
          <a:p>
            <a:pPr marL="0" indent="0">
              <a:buNone/>
            </a:pPr>
            <a:endParaRPr lang="en-CA" sz="2400" dirty="0"/>
          </a:p>
          <a:p>
            <a:pPr marL="0" indent="0">
              <a:buNone/>
            </a:pPr>
            <a:r>
              <a:rPr lang="en-CA" sz="2000" dirty="0">
                <a:latin typeface="Aptos Display" panose="020B0004020202020204" pitchFamily="34" charset="0"/>
              </a:rPr>
              <a:t>Accurate financial planning is </a:t>
            </a:r>
            <a:r>
              <a:rPr lang="en-CA" sz="2000" u="sng" dirty="0">
                <a:latin typeface="Aptos Display" panose="020B0004020202020204" pitchFamily="34" charset="0"/>
              </a:rPr>
              <a:t>crucial</a:t>
            </a:r>
            <a:r>
              <a:rPr lang="en-CA" sz="2000" dirty="0">
                <a:latin typeface="Aptos Display" panose="020B0004020202020204" pitchFamily="34" charset="0"/>
              </a:rPr>
              <a:t> for startup survival,</a:t>
            </a:r>
          </a:p>
          <a:p>
            <a:pPr marL="0" indent="0">
              <a:buNone/>
            </a:pPr>
            <a:r>
              <a:rPr lang="en-CA" sz="2000" dirty="0">
                <a:latin typeface="Aptos Display" panose="020B0004020202020204" pitchFamily="34" charset="0"/>
              </a:rPr>
              <a:t>Influencing fundraising efforts, cash flow </a:t>
            </a:r>
            <a:r>
              <a:rPr lang="en-CA" sz="2000" dirty="0" err="1">
                <a:latin typeface="Aptos Display" panose="020B0004020202020204" pitchFamily="34" charset="0"/>
              </a:rPr>
              <a:t>management,and</a:t>
            </a:r>
            <a:r>
              <a:rPr lang="en-CA" sz="2000" dirty="0">
                <a:latin typeface="Aptos Display" panose="020B00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CA" sz="2000" dirty="0">
                <a:latin typeface="Aptos Display" panose="020B0004020202020204" pitchFamily="34" charset="0"/>
              </a:rPr>
              <a:t>Strategic </a:t>
            </a:r>
            <a:r>
              <a:rPr lang="en-CA" sz="2000" dirty="0" err="1">
                <a:latin typeface="Aptos Display" panose="020B0004020202020204" pitchFamily="34" charset="0"/>
              </a:rPr>
              <a:t>deicions</a:t>
            </a:r>
            <a:r>
              <a:rPr lang="en-CA" sz="2000" dirty="0">
                <a:latin typeface="Aptos Display" panose="020B0004020202020204" pitchFamily="34" charset="0"/>
              </a:rPr>
              <a:t>. Remember,”90% of startups fail due to </a:t>
            </a:r>
          </a:p>
          <a:p>
            <a:pPr marL="0" indent="0">
              <a:buNone/>
            </a:pPr>
            <a:r>
              <a:rPr lang="en-CA" sz="2000" dirty="0">
                <a:latin typeface="Aptos Display" panose="020B0004020202020204" pitchFamily="34" charset="0"/>
              </a:rPr>
              <a:t>Poor financial management</a:t>
            </a:r>
            <a:r>
              <a:rPr lang="en-CA" sz="2400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1768561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03551-1DA3-5C4E-16EC-2E08219A6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4932"/>
            <a:ext cx="6310859" cy="1109272"/>
          </a:xfrm>
        </p:spPr>
        <p:txBody>
          <a:bodyPr>
            <a:normAutofit/>
          </a:bodyPr>
          <a:lstStyle/>
          <a:p>
            <a:r>
              <a:rPr lang="en-CA" sz="4800" b="1" dirty="0"/>
              <a:t> 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6612C-CC60-E7F9-D68A-BC7F58E8E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21" y="1334124"/>
            <a:ext cx="12072079" cy="5471409"/>
          </a:xfrm>
        </p:spPr>
        <p:txBody>
          <a:bodyPr/>
          <a:lstStyle/>
          <a:p>
            <a:pPr marL="0" indent="0">
              <a:buNone/>
            </a:pPr>
            <a:r>
              <a:rPr lang="en-CA" sz="3200" dirty="0"/>
              <a:t>Estimates future revenue</a:t>
            </a:r>
            <a:r>
              <a:rPr lang="en-CA" dirty="0"/>
              <a:t>			CONTROL OVER EXPENSE</a:t>
            </a:r>
          </a:p>
          <a:p>
            <a:pPr marL="0" indent="0">
              <a:buNone/>
            </a:pPr>
            <a:r>
              <a:rPr lang="en-CA" dirty="0"/>
              <a:t>	</a:t>
            </a:r>
          </a:p>
          <a:p>
            <a:pPr marL="0" indent="0">
              <a:buNone/>
            </a:pPr>
            <a:r>
              <a:rPr lang="en-CA" sz="2000" dirty="0"/>
              <a:t>Help startups predict expected income			Ensures proper allocation of financial resources</a:t>
            </a:r>
          </a:p>
          <a:p>
            <a:pPr marL="0" indent="0">
              <a:buNone/>
            </a:pPr>
            <a:r>
              <a:rPr lang="en-CA" sz="2000" dirty="0"/>
              <a:t>based on market trends and past data			and also helps to avoid unnecessary spending</a:t>
            </a:r>
          </a:p>
          <a:p>
            <a:pPr marL="0" indent="0">
              <a:buNone/>
            </a:pPr>
            <a:r>
              <a:rPr lang="en-CA" sz="2000" dirty="0"/>
              <a:t>through which realistic target can be set			and maintain cost efficiency</a:t>
            </a:r>
          </a:p>
          <a:p>
            <a:pPr marL="0" indent="0">
              <a:buNone/>
            </a:pPr>
            <a:endParaRPr lang="en-CA" sz="2000" dirty="0"/>
          </a:p>
          <a:p>
            <a:pPr marL="0" indent="0">
              <a:buNone/>
            </a:pPr>
            <a:r>
              <a:rPr lang="en-CA" sz="2400" b="1" dirty="0"/>
              <a:t>BETTER DECISION-MAKING			RISK REDUCTION</a:t>
            </a:r>
          </a:p>
          <a:p>
            <a:pPr marL="0" indent="0">
              <a:buNone/>
            </a:pPr>
            <a:endParaRPr lang="en-CA" sz="2400" b="1" dirty="0"/>
          </a:p>
          <a:p>
            <a:pPr marL="0" indent="0">
              <a:buNone/>
            </a:pPr>
            <a:r>
              <a:rPr lang="en-CA" sz="2000" dirty="0"/>
              <a:t>Provides financial clarity for planning Investment 		Identifies possible financial risks in advance and</a:t>
            </a:r>
          </a:p>
          <a:p>
            <a:pPr marL="0" indent="0">
              <a:buNone/>
            </a:pPr>
            <a:r>
              <a:rPr lang="en-CA" sz="2000" dirty="0"/>
              <a:t>and operations Helps management to take			helps in preparing backup plans for </a:t>
            </a:r>
          </a:p>
          <a:p>
            <a:pPr marL="0" indent="0">
              <a:buNone/>
            </a:pPr>
            <a:r>
              <a:rPr lang="en-CA" sz="2000" dirty="0"/>
              <a:t> informed and strategic decisions				</a:t>
            </a:r>
            <a:r>
              <a:rPr lang="en-CA" sz="2000" dirty="0" err="1"/>
              <a:t>uncertainities</a:t>
            </a:r>
            <a:endParaRPr lang="en-CA" sz="2000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16491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F3A3-DFF8-EA2E-4EDD-D3CAAD06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754" y="365126"/>
            <a:ext cx="10979046" cy="983990"/>
          </a:xfrm>
        </p:spPr>
        <p:txBody>
          <a:bodyPr/>
          <a:lstStyle/>
          <a:p>
            <a:r>
              <a:rPr lang="en-CA" dirty="0"/>
              <a:t>TYPES OF BUDGETS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D329D-B0B5-E396-7870-E17E21DB9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9116"/>
            <a:ext cx="12192000" cy="5508884"/>
          </a:xfrm>
        </p:spPr>
        <p:txBody>
          <a:bodyPr/>
          <a:lstStyle/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	</a:t>
            </a:r>
          </a:p>
          <a:p>
            <a:pPr marL="0" indent="0">
              <a:buNone/>
            </a:pPr>
            <a:r>
              <a:rPr lang="en-CA" dirty="0"/>
              <a:t>	OPERATING	     CASH 		    CAPITAL		    SALES</a:t>
            </a:r>
          </a:p>
          <a:p>
            <a:pPr marL="0" indent="0">
              <a:buNone/>
            </a:pPr>
            <a:r>
              <a:rPr lang="en-CA" dirty="0"/>
              <a:t>	BUDGET		     BUDGET		    BUDGET		   BUDGET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sz="2400" dirty="0"/>
              <a:t>             Shows day-to-day               Tracks cash inflow	     used for planning	    Estimates expected </a:t>
            </a:r>
          </a:p>
          <a:p>
            <a:pPr marL="0" indent="0">
              <a:buNone/>
            </a:pPr>
            <a:r>
              <a:rPr lang="en-CA" sz="2400" dirty="0"/>
              <a:t>             income and expense	      and outflow over	     long term  		    sales revenue for a</a:t>
            </a:r>
          </a:p>
          <a:p>
            <a:pPr marL="0" indent="0">
              <a:buNone/>
            </a:pPr>
            <a:r>
              <a:rPr lang="en-CA" sz="2400" dirty="0"/>
              <a:t>             of the business</a:t>
            </a:r>
            <a:r>
              <a:rPr lang="en-CA" dirty="0"/>
              <a:t>		     </a:t>
            </a:r>
            <a:r>
              <a:rPr lang="en-CA" sz="2400" dirty="0"/>
              <a:t>a period		     investments	    period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188E63-EB80-8C06-A1FF-0DFCC6A880F5}"/>
              </a:ext>
            </a:extLst>
          </p:cNvPr>
          <p:cNvSpPr/>
          <p:nvPr/>
        </p:nvSpPr>
        <p:spPr>
          <a:xfrm flipV="1">
            <a:off x="0" y="3410257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2B02DEF8-AD5B-13DF-9C13-966D6A860824}"/>
              </a:ext>
            </a:extLst>
          </p:cNvPr>
          <p:cNvSpPr/>
          <p:nvPr/>
        </p:nvSpPr>
        <p:spPr>
          <a:xfrm>
            <a:off x="1409076" y="3240487"/>
            <a:ext cx="524655" cy="430978"/>
          </a:xfrm>
          <a:prstGeom prst="star5">
            <a:avLst>
              <a:gd name="adj" fmla="val 12806"/>
              <a:gd name="hf" fmla="val 105146"/>
              <a:gd name="vf" fmla="val 11055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0DDBA805-86C0-3460-5A8E-089330251FEC}"/>
              </a:ext>
            </a:extLst>
          </p:cNvPr>
          <p:cNvSpPr/>
          <p:nvPr/>
        </p:nvSpPr>
        <p:spPr>
          <a:xfrm>
            <a:off x="4492049" y="3240487"/>
            <a:ext cx="524655" cy="430978"/>
          </a:xfrm>
          <a:prstGeom prst="star5">
            <a:avLst>
              <a:gd name="adj" fmla="val 12806"/>
              <a:gd name="hf" fmla="val 105146"/>
              <a:gd name="vf" fmla="val 11055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84602990-E77F-D67B-096B-2ADFAA0035DB}"/>
              </a:ext>
            </a:extLst>
          </p:cNvPr>
          <p:cNvSpPr/>
          <p:nvPr/>
        </p:nvSpPr>
        <p:spPr>
          <a:xfrm>
            <a:off x="7175297" y="3240487"/>
            <a:ext cx="524655" cy="430978"/>
          </a:xfrm>
          <a:prstGeom prst="star5">
            <a:avLst>
              <a:gd name="adj" fmla="val 12806"/>
              <a:gd name="hf" fmla="val 105146"/>
              <a:gd name="vf" fmla="val 11055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A8AB66FA-E280-BA46-6598-164438F48E41}"/>
              </a:ext>
            </a:extLst>
          </p:cNvPr>
          <p:cNvSpPr/>
          <p:nvPr/>
        </p:nvSpPr>
        <p:spPr>
          <a:xfrm>
            <a:off x="9923488" y="3240487"/>
            <a:ext cx="524655" cy="430978"/>
          </a:xfrm>
          <a:prstGeom prst="star5">
            <a:avLst>
              <a:gd name="adj" fmla="val 12806"/>
              <a:gd name="hf" fmla="val 105146"/>
              <a:gd name="vf" fmla="val 11055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4202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083EF-406F-436D-0543-F3B310FAB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METHODS OF FORECASTING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69C42-9DAA-ABC6-8900-6B66935AD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9370" y="1825625"/>
            <a:ext cx="10394430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CA" dirty="0"/>
              <a:t>Qualitative (expert opinion)</a:t>
            </a:r>
          </a:p>
          <a:p>
            <a:pPr marL="0" indent="0">
              <a:buNone/>
            </a:pPr>
            <a:endParaRPr lang="en-CA" dirty="0"/>
          </a:p>
          <a:p>
            <a:pPr marL="514350" indent="-514350">
              <a:buAutoNum type="arabicPeriod" startAt="2"/>
            </a:pPr>
            <a:r>
              <a:rPr lang="en-CA" dirty="0"/>
              <a:t>Quantitative (data analysis)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3.     Trend analysis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4.     Regression method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95687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1FA277-43CE-EB25-38F9-CE5991CB0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5720"/>
            <a:ext cx="10515600" cy="45719"/>
          </a:xfrm>
        </p:spPr>
        <p:txBody>
          <a:bodyPr>
            <a:normAutofit fontScale="90000"/>
          </a:bodyPr>
          <a:lstStyle/>
          <a:p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CAD263-58A6-3A0D-1736-2900D4292D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0"/>
            <a:ext cx="6145216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b="1" dirty="0">
                <a:latin typeface="Aptos Display" panose="020B0004020202020204" pitchFamily="34" charset="0"/>
              </a:rPr>
              <a:t>1.    QUALITATIVE METHOD</a:t>
            </a:r>
          </a:p>
          <a:p>
            <a:pPr marL="0" indent="0">
              <a:buNone/>
            </a:pPr>
            <a:r>
              <a:rPr lang="en-CA" sz="2400" dirty="0"/>
              <a:t>       </a:t>
            </a:r>
            <a:r>
              <a:rPr lang="en-CA" sz="1800" dirty="0"/>
              <a:t>Based on expert opinion and judgement</a:t>
            </a:r>
          </a:p>
          <a:p>
            <a:pPr marL="0" indent="0">
              <a:buNone/>
            </a:pPr>
            <a:r>
              <a:rPr lang="en-CA" sz="1800" dirty="0"/>
              <a:t>          Used when no past data is available</a:t>
            </a:r>
          </a:p>
          <a:p>
            <a:pPr marL="0" indent="0">
              <a:buNone/>
            </a:pPr>
            <a:r>
              <a:rPr lang="en-CA" sz="1800" dirty="0"/>
              <a:t>          Example: Market research and analysis</a:t>
            </a:r>
          </a:p>
          <a:p>
            <a:pPr marL="0" indent="0">
              <a:buNone/>
            </a:pPr>
            <a:endParaRPr lang="en-CA" sz="1800" dirty="0"/>
          </a:p>
          <a:p>
            <a:pPr marL="0" indent="0">
              <a:buNone/>
            </a:pPr>
            <a:r>
              <a:rPr lang="en-CA" sz="2400" b="1" dirty="0">
                <a:latin typeface="Aptos Display" panose="020B0004020202020204" pitchFamily="34" charset="0"/>
              </a:rPr>
              <a:t>3.    TREND ANALYSIS</a:t>
            </a:r>
          </a:p>
          <a:p>
            <a:pPr marL="0" indent="0">
              <a:buNone/>
            </a:pPr>
            <a:r>
              <a:rPr lang="en-CA" sz="1800" dirty="0"/>
              <a:t>           Studies past trends &amp; patterns</a:t>
            </a:r>
          </a:p>
          <a:p>
            <a:pPr marL="0" indent="0">
              <a:buNone/>
            </a:pPr>
            <a:r>
              <a:rPr lang="en-CA" sz="1800" dirty="0"/>
              <a:t>          Assumes future will follow same trend</a:t>
            </a:r>
          </a:p>
          <a:p>
            <a:pPr marL="0" indent="0">
              <a:buNone/>
            </a:pPr>
            <a:r>
              <a:rPr lang="en-CA" sz="1800" dirty="0"/>
              <a:t>          Simple &amp; widely used</a:t>
            </a:r>
          </a:p>
          <a:p>
            <a:pPr marL="0" indent="0">
              <a:buNone/>
            </a:pPr>
            <a:r>
              <a:rPr lang="en-CA" sz="1800" dirty="0"/>
              <a:t>    </a:t>
            </a:r>
            <a:r>
              <a:rPr lang="en-CA" sz="2400" dirty="0"/>
              <a:t>Example: sales trend ( Quantitative method)</a:t>
            </a:r>
            <a:r>
              <a:rPr lang="en-CA" sz="1800" dirty="0"/>
              <a:t>                                                                  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37F49C-D801-3209-D045-05EF2F508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0"/>
            <a:ext cx="6046784" cy="6858000"/>
          </a:xfrm>
        </p:spPr>
        <p:txBody>
          <a:bodyPr/>
          <a:lstStyle/>
          <a:p>
            <a:pPr marL="0" indent="0">
              <a:buNone/>
            </a:pPr>
            <a:r>
              <a:rPr lang="en-CA" sz="2400" b="1" dirty="0">
                <a:latin typeface="Aptos Display" panose="020B0004020202020204" pitchFamily="34" charset="0"/>
              </a:rPr>
              <a:t>2.   QUANTITATIVE METHOD</a:t>
            </a:r>
          </a:p>
          <a:p>
            <a:pPr marL="0" indent="0">
              <a:buNone/>
            </a:pPr>
            <a:r>
              <a:rPr lang="en-CA" sz="2400" dirty="0"/>
              <a:t>       </a:t>
            </a:r>
            <a:r>
              <a:rPr lang="en-CA" sz="1800" dirty="0"/>
              <a:t>Based on numerical data and </a:t>
            </a:r>
            <a:r>
              <a:rPr lang="en-CA" sz="1800" dirty="0" err="1"/>
              <a:t>swtatistics</a:t>
            </a:r>
            <a:endParaRPr lang="en-CA" sz="1800" dirty="0"/>
          </a:p>
          <a:p>
            <a:pPr marL="0" indent="0">
              <a:buNone/>
            </a:pPr>
            <a:r>
              <a:rPr lang="en-CA" sz="1800" dirty="0"/>
              <a:t>          Uses past data for future prediction </a:t>
            </a:r>
          </a:p>
          <a:p>
            <a:pPr marL="0" indent="0">
              <a:buNone/>
            </a:pPr>
            <a:r>
              <a:rPr lang="en-CA" sz="1800" dirty="0"/>
              <a:t>          More accurate &amp; objective</a:t>
            </a:r>
          </a:p>
          <a:p>
            <a:pPr marL="0" indent="0">
              <a:buNone/>
            </a:pPr>
            <a:endParaRPr lang="en-CA" sz="1800" dirty="0"/>
          </a:p>
          <a:p>
            <a:pPr marL="514350" indent="-514350">
              <a:buAutoNum type="arabicPeriod" startAt="4"/>
            </a:pPr>
            <a:r>
              <a:rPr lang="en-CA" sz="2400" b="1" dirty="0">
                <a:latin typeface="Aptos Display" panose="020B0004020202020204" pitchFamily="34" charset="0"/>
              </a:rPr>
              <a:t>REGRESSION METHOD</a:t>
            </a:r>
          </a:p>
          <a:p>
            <a:pPr marL="0" indent="0">
              <a:buNone/>
            </a:pPr>
            <a:r>
              <a:rPr lang="en-CA" sz="2400" b="1" dirty="0">
                <a:latin typeface="Aptos Display" panose="020B0004020202020204" pitchFamily="34" charset="0"/>
              </a:rPr>
              <a:t>        </a:t>
            </a:r>
            <a:r>
              <a:rPr lang="en-CA" sz="1800" dirty="0">
                <a:latin typeface="Aptos Display" panose="020B0004020202020204" pitchFamily="34" charset="0"/>
              </a:rPr>
              <a:t>Shows relationship between variables</a:t>
            </a:r>
          </a:p>
          <a:p>
            <a:pPr marL="0" indent="0">
              <a:buNone/>
            </a:pPr>
            <a:r>
              <a:rPr lang="en-CA" sz="1800" dirty="0">
                <a:latin typeface="Aptos Display" panose="020B0004020202020204" pitchFamily="34" charset="0"/>
              </a:rPr>
              <a:t>           Helps predict impact of one factor on another</a:t>
            </a:r>
          </a:p>
          <a:p>
            <a:pPr marL="0" indent="0">
              <a:buNone/>
            </a:pPr>
            <a:r>
              <a:rPr lang="en-CA" sz="1800" dirty="0">
                <a:latin typeface="Aptos Display" panose="020B0004020202020204" pitchFamily="34" charset="0"/>
              </a:rPr>
              <a:t>           Advanced &amp; data-driven method</a:t>
            </a:r>
          </a:p>
          <a:p>
            <a:pPr marL="0" indent="0">
              <a:buNone/>
            </a:pPr>
            <a:r>
              <a:rPr lang="en-CA" sz="1800" b="1" dirty="0">
                <a:latin typeface="Aptos Display" panose="020B0004020202020204" pitchFamily="34" charset="0"/>
              </a:rPr>
              <a:t>       </a:t>
            </a:r>
            <a:r>
              <a:rPr lang="en-CA" sz="2000" b="1" dirty="0">
                <a:latin typeface="+mj-lt"/>
              </a:rPr>
              <a:t>TREND ANALYSIS</a:t>
            </a:r>
          </a:p>
          <a:p>
            <a:pPr marL="0" indent="0" algn="ctr">
              <a:buNone/>
            </a:pPr>
            <a:endParaRPr lang="en-CA" sz="2000" dirty="0">
              <a:latin typeface="Aptos Display" panose="020B0004020202020204" pitchFamily="34" charset="0"/>
            </a:endParaRPr>
          </a:p>
          <a:p>
            <a:pPr marL="0" indent="0">
              <a:buNone/>
            </a:pPr>
            <a:endParaRPr lang="en-CA" sz="2000" dirty="0">
              <a:latin typeface="Aptos Display" panose="020B0004020202020204" pitchFamily="34" charset="0"/>
            </a:endParaRPr>
          </a:p>
          <a:p>
            <a:pPr marL="0" indent="0">
              <a:buNone/>
            </a:pPr>
            <a:endParaRPr lang="en-CA" sz="2000" dirty="0">
              <a:latin typeface="Aptos Display" panose="020B0004020202020204" pitchFamily="34" charset="0"/>
            </a:endParaRPr>
          </a:p>
          <a:p>
            <a:pPr marL="0" indent="0">
              <a:buNone/>
            </a:pPr>
            <a:r>
              <a:rPr lang="en-CA" sz="2000" b="1" dirty="0">
                <a:latin typeface="Aptos Display" panose="020B0004020202020204" pitchFamily="34" charset="0"/>
              </a:rPr>
              <a:t>      </a:t>
            </a:r>
            <a:r>
              <a:rPr lang="en-CA" sz="2000" dirty="0">
                <a:latin typeface="Aptos Display" panose="020B0004020202020204" pitchFamily="34" charset="0"/>
              </a:rPr>
              <a:t>     </a:t>
            </a:r>
            <a:r>
              <a:rPr lang="en-CA" b="1" dirty="0">
                <a:latin typeface="Aptos Display" panose="020B0004020202020204" pitchFamily="34" charset="0"/>
              </a:rPr>
              <a:t>     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61400D2-AD6A-1914-51B9-1D4B552764D7}"/>
              </a:ext>
            </a:extLst>
          </p:cNvPr>
          <p:cNvSpPr/>
          <p:nvPr/>
        </p:nvSpPr>
        <p:spPr>
          <a:xfrm>
            <a:off x="6267635" y="571500"/>
            <a:ext cx="314793" cy="1948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4683D414-279C-CD86-8AAA-797CD407432F}"/>
              </a:ext>
            </a:extLst>
          </p:cNvPr>
          <p:cNvSpPr/>
          <p:nvPr/>
        </p:nvSpPr>
        <p:spPr>
          <a:xfrm>
            <a:off x="6295868" y="971861"/>
            <a:ext cx="314793" cy="1948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EB2DC256-55F6-5339-0B38-0E604E1D06B7}"/>
              </a:ext>
            </a:extLst>
          </p:cNvPr>
          <p:cNvSpPr/>
          <p:nvPr/>
        </p:nvSpPr>
        <p:spPr>
          <a:xfrm>
            <a:off x="6295868" y="1367852"/>
            <a:ext cx="314793" cy="1948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5D4FC90-C71C-91A3-D850-2A03D2CE05D8}"/>
              </a:ext>
            </a:extLst>
          </p:cNvPr>
          <p:cNvSpPr/>
          <p:nvPr/>
        </p:nvSpPr>
        <p:spPr>
          <a:xfrm>
            <a:off x="6273382" y="2632022"/>
            <a:ext cx="314793" cy="1948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C512EAB-8C3D-BC3D-D4E8-EB7B1D43724F}"/>
              </a:ext>
            </a:extLst>
          </p:cNvPr>
          <p:cNvSpPr/>
          <p:nvPr/>
        </p:nvSpPr>
        <p:spPr>
          <a:xfrm>
            <a:off x="6267635" y="3010524"/>
            <a:ext cx="314793" cy="1948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57D064A-3216-F363-060A-43B10B938F47}"/>
              </a:ext>
            </a:extLst>
          </p:cNvPr>
          <p:cNvSpPr/>
          <p:nvPr/>
        </p:nvSpPr>
        <p:spPr>
          <a:xfrm>
            <a:off x="6267634" y="3422128"/>
            <a:ext cx="314793" cy="1948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9FF717F6-1913-8E65-2862-850ACBB1CD3A}"/>
              </a:ext>
            </a:extLst>
          </p:cNvPr>
          <p:cNvSpPr/>
          <p:nvPr/>
        </p:nvSpPr>
        <p:spPr>
          <a:xfrm>
            <a:off x="122418" y="571500"/>
            <a:ext cx="314793" cy="1948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DC7E78D7-6464-B7C7-33BB-F54F82864AA2}"/>
              </a:ext>
            </a:extLst>
          </p:cNvPr>
          <p:cNvSpPr/>
          <p:nvPr/>
        </p:nvSpPr>
        <p:spPr>
          <a:xfrm>
            <a:off x="117419" y="961243"/>
            <a:ext cx="314793" cy="1948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D8214C14-6ABD-A1C4-E282-EBC06CB0D318}"/>
              </a:ext>
            </a:extLst>
          </p:cNvPr>
          <p:cNvSpPr/>
          <p:nvPr/>
        </p:nvSpPr>
        <p:spPr>
          <a:xfrm>
            <a:off x="117418" y="1367226"/>
            <a:ext cx="314793" cy="1948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7DBBA26A-DAAE-0933-C8D7-842A7CDE63EF}"/>
              </a:ext>
            </a:extLst>
          </p:cNvPr>
          <p:cNvSpPr/>
          <p:nvPr/>
        </p:nvSpPr>
        <p:spPr>
          <a:xfrm>
            <a:off x="117418" y="2534586"/>
            <a:ext cx="314793" cy="1948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060381EF-DC83-502B-C672-4600A0AD5812}"/>
              </a:ext>
            </a:extLst>
          </p:cNvPr>
          <p:cNvSpPr/>
          <p:nvPr/>
        </p:nvSpPr>
        <p:spPr>
          <a:xfrm>
            <a:off x="117417" y="2929324"/>
            <a:ext cx="314793" cy="1948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BA841973-616F-0245-0DCC-8C61695F3876}"/>
              </a:ext>
            </a:extLst>
          </p:cNvPr>
          <p:cNvSpPr/>
          <p:nvPr/>
        </p:nvSpPr>
        <p:spPr>
          <a:xfrm>
            <a:off x="117417" y="3291590"/>
            <a:ext cx="314793" cy="1948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C4D2090C-2A13-5C8C-7769-69A996F54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388042"/>
              </p:ext>
            </p:extLst>
          </p:nvPr>
        </p:nvGraphicFramePr>
        <p:xfrm>
          <a:off x="119921" y="4323414"/>
          <a:ext cx="5456420" cy="2378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2227">
                  <a:extLst>
                    <a:ext uri="{9D8B030D-6E8A-4147-A177-3AD203B41FA5}">
                      <a16:colId xmlns:a16="http://schemas.microsoft.com/office/drawing/2014/main" val="4026522568"/>
                    </a:ext>
                  </a:extLst>
                </a:gridCol>
                <a:gridCol w="1365983">
                  <a:extLst>
                    <a:ext uri="{9D8B030D-6E8A-4147-A177-3AD203B41FA5}">
                      <a16:colId xmlns:a16="http://schemas.microsoft.com/office/drawing/2014/main" val="13009343"/>
                    </a:ext>
                  </a:extLst>
                </a:gridCol>
                <a:gridCol w="1363479">
                  <a:extLst>
                    <a:ext uri="{9D8B030D-6E8A-4147-A177-3AD203B41FA5}">
                      <a16:colId xmlns:a16="http://schemas.microsoft.com/office/drawing/2014/main" val="2892572848"/>
                    </a:ext>
                  </a:extLst>
                </a:gridCol>
                <a:gridCol w="1364731">
                  <a:extLst>
                    <a:ext uri="{9D8B030D-6E8A-4147-A177-3AD203B41FA5}">
                      <a16:colId xmlns:a16="http://schemas.microsoft.com/office/drawing/2014/main" val="2405410289"/>
                    </a:ext>
                  </a:extLst>
                </a:gridCol>
              </a:tblGrid>
              <a:tr h="594609">
                <a:tc>
                  <a:txBody>
                    <a:bodyPr/>
                    <a:lstStyle/>
                    <a:p>
                      <a:r>
                        <a:rPr lang="en-CA" dirty="0">
                          <a:latin typeface="Aptos Display" panose="020B0004020202020204" pitchFamily="34" charset="0"/>
                        </a:rPr>
                        <a:t>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>
                          <a:latin typeface="Aptos Display" panose="020B0004020202020204" pitchFamily="34" charset="0"/>
                        </a:rPr>
                        <a:t>Sales(₹)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>
                          <a:latin typeface="Aptos Display" panose="020B0004020202020204" pitchFamily="34" charset="0"/>
                        </a:rPr>
                        <a:t>Expense(₹)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>
                          <a:latin typeface="Aptos Display" panose="020B0004020202020204" pitchFamily="34" charset="0"/>
                        </a:rPr>
                        <a:t>Profit(₹)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744619"/>
                  </a:ext>
                </a:extLst>
              </a:tr>
              <a:tr h="594609">
                <a:tc>
                  <a:txBody>
                    <a:bodyPr/>
                    <a:lstStyle/>
                    <a:p>
                      <a:r>
                        <a:rPr lang="en-CA" dirty="0">
                          <a:latin typeface="Aptos Display" panose="020B0004020202020204" pitchFamily="34" charset="0"/>
                        </a:rP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>
                          <a:latin typeface="Aptos Display" panose="020B0004020202020204" pitchFamily="34" charset="0"/>
                        </a:rPr>
                        <a:t>50000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>
                          <a:latin typeface="Aptos Display" panose="020B0004020202020204" pitchFamily="34" charset="0"/>
                        </a:rPr>
                        <a:t>30000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>
                          <a:latin typeface="Aptos Display" panose="020B0004020202020204" pitchFamily="34" charset="0"/>
                        </a:rPr>
                        <a:t>20000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299520"/>
                  </a:ext>
                </a:extLst>
              </a:tr>
              <a:tr h="594609">
                <a:tc>
                  <a:txBody>
                    <a:bodyPr/>
                    <a:lstStyle/>
                    <a:p>
                      <a:r>
                        <a:rPr lang="en-CA" dirty="0">
                          <a:latin typeface="Aptos Display" panose="020B0004020202020204" pitchFamily="34" charset="0"/>
                        </a:rP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>
                          <a:latin typeface="Aptos Display" panose="020B0004020202020204" pitchFamily="34" charset="0"/>
                        </a:rPr>
                        <a:t>60000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>
                          <a:latin typeface="Aptos Display" panose="020B0004020202020204" pitchFamily="34" charset="0"/>
                        </a:rPr>
                        <a:t>35000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>
                          <a:latin typeface="Aptos Display" panose="020B0004020202020204" pitchFamily="34" charset="0"/>
                        </a:rPr>
                        <a:t>25000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851225"/>
                  </a:ext>
                </a:extLst>
              </a:tr>
              <a:tr h="594609">
                <a:tc>
                  <a:txBody>
                    <a:bodyPr/>
                    <a:lstStyle/>
                    <a:p>
                      <a:r>
                        <a:rPr lang="en-CA" dirty="0">
                          <a:latin typeface="Aptos Display" panose="020B0004020202020204" pitchFamily="34" charset="0"/>
                        </a:rP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>
                          <a:latin typeface="Aptos Display" panose="020B0004020202020204" pitchFamily="34" charset="0"/>
                        </a:rPr>
                        <a:t>70000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>
                          <a:latin typeface="Aptos Display" panose="020B0004020202020204" pitchFamily="34" charset="0"/>
                        </a:rPr>
                        <a:t>40000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>
                          <a:latin typeface="Aptos Display" panose="020B0004020202020204" pitchFamily="34" charset="0"/>
                        </a:rPr>
                        <a:t>30000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135766"/>
                  </a:ext>
                </a:extLst>
              </a:tr>
            </a:tbl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DC9C9F81-A174-68D4-99D1-341D010BC1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2612" y="4199117"/>
            <a:ext cx="5393969" cy="2502733"/>
          </a:xfrm>
          <a:prstGeom prst="rect">
            <a:avLst/>
          </a:prstGeom>
        </p:spPr>
      </p:pic>
      <p:sp>
        <p:nvSpPr>
          <p:cNvPr id="23" name="Arrow: Notched Right 22">
            <a:extLst>
              <a:ext uri="{FF2B5EF4-FFF2-40B4-BE49-F238E27FC236}">
                <a16:creationId xmlns:a16="http://schemas.microsoft.com/office/drawing/2014/main" id="{7D9A509C-E9B8-259C-ACA0-8928C17E9C03}"/>
              </a:ext>
            </a:extLst>
          </p:cNvPr>
          <p:cNvSpPr/>
          <p:nvPr/>
        </p:nvSpPr>
        <p:spPr>
          <a:xfrm>
            <a:off x="6145216" y="3740050"/>
            <a:ext cx="314793" cy="291057"/>
          </a:xfrm>
          <a:prstGeom prst="notchedRightArrow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67853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156377D-419B-F147-0DFE-462AE1199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273"/>
            <a:ext cx="10515600" cy="879059"/>
          </a:xfrm>
        </p:spPr>
        <p:txBody>
          <a:bodyPr/>
          <a:lstStyle/>
          <a:p>
            <a:r>
              <a:rPr lang="en-CA" dirty="0"/>
              <a:t>TOOLS AND DATA INPUTS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7BC024-5B26-FCDD-1F89-00DD649FF2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9862" y="1499016"/>
            <a:ext cx="5935354" cy="4993859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dirty="0"/>
              <a:t>🛠️ Tools Used</a:t>
            </a:r>
            <a:br>
              <a:rPr lang="en-US" dirty="0"/>
            </a:br>
            <a:endParaRPr lang="en-US" dirty="0"/>
          </a:p>
          <a:p>
            <a:r>
              <a:rPr lang="en-US" dirty="0"/>
              <a:t>Microsoft Excel – For calculations, tables, and charts</a:t>
            </a:r>
          </a:p>
          <a:p>
            <a:endParaRPr lang="en-US" dirty="0"/>
          </a:p>
          <a:p>
            <a:r>
              <a:rPr lang="en-US" dirty="0"/>
              <a:t>Google Sheets – For online data management and sharing</a:t>
            </a:r>
          </a:p>
          <a:p>
            <a:endParaRPr lang="en-US" dirty="0"/>
          </a:p>
          <a:p>
            <a:r>
              <a:rPr lang="en-US" dirty="0"/>
              <a:t>Financial Software – Helps in automated forecasting and reporting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dirty="0"/>
              <a:t>Accounting Software – Helps in recording financial transactions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25E5095-2D62-AF05-CBDC-373A8F9AC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9840" y="1499016"/>
            <a:ext cx="5662298" cy="4993859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dirty="0"/>
              <a:t>🛠️ Data Input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📂 Historical Data – Past sales, expenses, profits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🌍 Market Data – Industry trends and customer demand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🏢 Internal Data – Company costs and operations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💡 Assumptions – Growth rate, inflation, future expectations</a:t>
            </a: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71208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385D5E-9F40-46D3-B667-D3AAA4DD5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844" y="73935"/>
            <a:ext cx="11629480" cy="1214203"/>
          </a:xfrm>
        </p:spPr>
        <p:txBody>
          <a:bodyPr>
            <a:normAutofit fontScale="90000"/>
          </a:bodyPr>
          <a:lstStyle/>
          <a:p>
            <a:pPr algn="ctr"/>
            <a:r>
              <a:rPr lang="en-CA" dirty="0"/>
              <a:t>Startups perspective in budget forecasting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5D0FB0F-A31A-E990-62F8-7C8C3B191D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034320"/>
            <a:ext cx="6205928" cy="582367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💡 1. Focus on Short-Term Planning			</a:t>
            </a:r>
            <a:r>
              <a:rPr lang="en-US" dirty="0"/>
              <a:t>				</a:t>
            </a:r>
          </a:p>
          <a:p>
            <a:r>
              <a:rPr lang="en-US" dirty="0"/>
              <a:t>Startups usually plan for monthly or quarterly budgets</a:t>
            </a:r>
          </a:p>
          <a:p>
            <a:r>
              <a:rPr lang="en-US" dirty="0"/>
              <a:t>Helps in quick adjustments due to changing market conditions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3600" b="1" dirty="0"/>
              <a:t>💰 2. Limited Financial Resources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Startups have restricted funds, so budgeting is very important</a:t>
            </a:r>
          </a:p>
          <a:p>
            <a:r>
              <a:rPr lang="en-US" dirty="0"/>
              <a:t>Ensures proper use of every rupee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4000" b="1" dirty="0"/>
              <a:t>📉 3. High Uncertainty &amp; Risk</a:t>
            </a:r>
          </a:p>
          <a:p>
            <a:pPr marL="0" indent="0">
              <a:buNone/>
            </a:pPr>
            <a:endParaRPr lang="en-US" sz="4000" b="1" dirty="0"/>
          </a:p>
          <a:p>
            <a:r>
              <a:rPr lang="en-US" dirty="0"/>
              <a:t>Market conditions are unpredictable for new businesses</a:t>
            </a:r>
          </a:p>
          <a:p>
            <a:r>
              <a:rPr lang="en-US" dirty="0"/>
              <a:t>Forecasting helps in preparing for possible </a:t>
            </a:r>
            <a:r>
              <a:rPr lang="en-US" dirty="0" err="1"/>
              <a:t>osses</a:t>
            </a:r>
            <a:endParaRPr lang="en-CA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46DDB30-D515-BF6B-E96A-FC6AC915CD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9840" y="1034320"/>
            <a:ext cx="5872160" cy="582367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700" b="1" dirty="0"/>
              <a:t>🔥 4. Monitoring Burn Rate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Burn rate means how fast a startup spends money</a:t>
            </a:r>
          </a:p>
          <a:p>
            <a:r>
              <a:rPr lang="en-US" dirty="0"/>
              <a:t>Helps in understanding how long the business can survive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700" b="1" dirty="0"/>
              <a:t>📊 5. Flexible Budgeting Approach</a:t>
            </a:r>
          </a:p>
          <a:p>
            <a:pPr marL="0" indent="0">
              <a:buNone/>
            </a:pPr>
            <a:endParaRPr lang="en-US" sz="3700" dirty="0"/>
          </a:p>
          <a:p>
            <a:r>
              <a:rPr lang="en-US" dirty="0"/>
              <a:t>Budgets should be adjusted frequently based on performance</a:t>
            </a:r>
          </a:p>
          <a:p>
            <a:r>
              <a:rPr lang="en-US" dirty="0"/>
              <a:t>Helps startups stay adaptable and responsive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700" b="1" dirty="0"/>
              <a:t>⭐ 6. Investor Attraction</a:t>
            </a:r>
          </a:p>
          <a:p>
            <a:pPr marL="0" indent="0">
              <a:buNone/>
            </a:pPr>
            <a:endParaRPr lang="en-US" sz="3700" b="1" dirty="0"/>
          </a:p>
          <a:p>
            <a:r>
              <a:rPr lang="en-US" dirty="0"/>
              <a:t>Proper forecasting builds confidence among investors</a:t>
            </a:r>
          </a:p>
          <a:p>
            <a:r>
              <a:rPr lang="en-US" dirty="0"/>
              <a:t>Shows financial planning and growth potential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35516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6A7C150-0C3B-EF25-21D4-2D3C5C195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CA" sz="4400" dirty="0"/>
              <a:t>ADVANTAGES OF BUDGET FORECASTING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C37CE6-A232-77A4-9F7E-C07BA101E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764" y="1184224"/>
            <a:ext cx="11707318" cy="5673776"/>
          </a:xfrm>
        </p:spPr>
        <p:txBody>
          <a:bodyPr/>
          <a:lstStyle/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				BETTER FINANCIAL CONTROL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	</a:t>
            </a:r>
          </a:p>
          <a:p>
            <a:pPr marL="0" indent="0">
              <a:buNone/>
            </a:pPr>
            <a:r>
              <a:rPr lang="en-CA" dirty="0"/>
              <a:t>EFFICIENT RESOURCE		ADVANTAGES	        GROWTH PLANNING</a:t>
            </a:r>
          </a:p>
          <a:p>
            <a:pPr marL="0" indent="0">
              <a:buNone/>
            </a:pPr>
            <a:r>
              <a:rPr lang="en-CA" dirty="0"/>
              <a:t>	ALLOCATION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				IMPROVED DECISION MAKING</a:t>
            </a:r>
          </a:p>
          <a:p>
            <a:pPr marL="0" indent="0">
              <a:buNone/>
            </a:pPr>
            <a:r>
              <a:rPr lang="en-CA" dirty="0"/>
              <a:t>				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8FD5CEC-7327-79C3-7854-BC4C40EC6B5D}"/>
              </a:ext>
            </a:extLst>
          </p:cNvPr>
          <p:cNvCxnSpPr>
            <a:cxnSpLocks/>
          </p:cNvCxnSpPr>
          <p:nvPr/>
        </p:nvCxnSpPr>
        <p:spPr>
          <a:xfrm flipV="1">
            <a:off x="6096000" y="2668249"/>
            <a:ext cx="0" cy="10792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15D8148-12F7-520C-98A7-4F1D6EE50678}"/>
              </a:ext>
            </a:extLst>
          </p:cNvPr>
          <p:cNvCxnSpPr/>
          <p:nvPr/>
        </p:nvCxnSpPr>
        <p:spPr>
          <a:xfrm flipH="1">
            <a:off x="3927423" y="3957403"/>
            <a:ext cx="10493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8FF7E7F-1188-8C71-0081-17C3A0FAD4BD}"/>
              </a:ext>
            </a:extLst>
          </p:cNvPr>
          <p:cNvCxnSpPr/>
          <p:nvPr/>
        </p:nvCxnSpPr>
        <p:spPr>
          <a:xfrm>
            <a:off x="6096000" y="4167266"/>
            <a:ext cx="0" cy="1034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1614E94-02D2-72E1-6B8C-A838A2F5E16B}"/>
              </a:ext>
            </a:extLst>
          </p:cNvPr>
          <p:cNvCxnSpPr/>
          <p:nvPr/>
        </p:nvCxnSpPr>
        <p:spPr>
          <a:xfrm>
            <a:off x="7330190" y="3957403"/>
            <a:ext cx="9743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2043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B3402-BA24-EAB8-A480-305A66263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9330"/>
            <a:ext cx="12192000" cy="583866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				1. Analyze past financial data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				2. Estimate revenue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				3. Forecast expenses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				4. Prepare budget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				5. Review regularly		</a:t>
            </a:r>
          </a:p>
          <a:p>
            <a:pPr marL="514350" indent="-514350">
              <a:buAutoNum type="arabicPeriod"/>
            </a:pPr>
            <a:endParaRPr lang="en-C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F38053-9832-3951-CFA0-85D7A72F8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406"/>
            <a:ext cx="10515600" cy="876925"/>
          </a:xfrm>
        </p:spPr>
        <p:txBody>
          <a:bodyPr>
            <a:normAutofit/>
          </a:bodyPr>
          <a:lstStyle/>
          <a:p>
            <a:pPr algn="ctr"/>
            <a:r>
              <a:rPr lang="en-CA" dirty="0"/>
              <a:t>STEPS IN BUDGET FORECASTING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6FC01D1-7794-BCEF-1BA4-21E8EFA47AD9}"/>
              </a:ext>
            </a:extLst>
          </p:cNvPr>
          <p:cNvCxnSpPr/>
          <p:nvPr/>
        </p:nvCxnSpPr>
        <p:spPr>
          <a:xfrm>
            <a:off x="5441430" y="1993692"/>
            <a:ext cx="0" cy="659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AD9E6C0-7D44-29AA-066B-F39405B7BABD}"/>
              </a:ext>
            </a:extLst>
          </p:cNvPr>
          <p:cNvCxnSpPr/>
          <p:nvPr/>
        </p:nvCxnSpPr>
        <p:spPr>
          <a:xfrm>
            <a:off x="5441430" y="3057993"/>
            <a:ext cx="0" cy="584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39B55B2-328B-092A-73EF-B46AC4E2F5D0}"/>
              </a:ext>
            </a:extLst>
          </p:cNvPr>
          <p:cNvCxnSpPr/>
          <p:nvPr/>
        </p:nvCxnSpPr>
        <p:spPr>
          <a:xfrm>
            <a:off x="5441430" y="4062334"/>
            <a:ext cx="0" cy="599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4F2E9EA-0DF6-C2A0-21E8-9BA277B81E6F}"/>
              </a:ext>
            </a:extLst>
          </p:cNvPr>
          <p:cNvCxnSpPr/>
          <p:nvPr/>
        </p:nvCxnSpPr>
        <p:spPr>
          <a:xfrm>
            <a:off x="5441430" y="5021705"/>
            <a:ext cx="0" cy="644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9279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2042FE-0DE0-6887-4BC5-FD8838804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64892"/>
            <a:ext cx="10515600" cy="164892"/>
          </a:xfrm>
        </p:spPr>
        <p:txBody>
          <a:bodyPr>
            <a:normAutofit fontScale="90000"/>
          </a:bodyPr>
          <a:lstStyle/>
          <a:p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8A737E-C9DE-4CD8-A4CF-513E0E9735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9842" y="209862"/>
            <a:ext cx="7015396" cy="66481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5400" dirty="0"/>
              <a:t>Challenges in</a:t>
            </a:r>
          </a:p>
          <a:p>
            <a:pPr marL="0" indent="0">
              <a:buNone/>
            </a:pPr>
            <a:r>
              <a:rPr lang="en-CA" sz="5400" dirty="0"/>
              <a:t>Forecasting</a:t>
            </a:r>
            <a:endParaRPr lang="en-CA" sz="2400" dirty="0"/>
          </a:p>
          <a:p>
            <a:pPr marL="0" indent="0">
              <a:buNone/>
            </a:pPr>
            <a:endParaRPr lang="en-CA" sz="5400" dirty="0"/>
          </a:p>
          <a:p>
            <a:pPr marL="0" indent="0">
              <a:buNone/>
            </a:pPr>
            <a:r>
              <a:rPr lang="en-CA" sz="2400" dirty="0"/>
              <a:t>Understanding the key difficulties startup face with budgeting</a:t>
            </a:r>
          </a:p>
          <a:p>
            <a:pPr marL="0" indent="0">
              <a:buNone/>
            </a:pPr>
            <a:endParaRPr lang="en-CA" sz="2400" dirty="0"/>
          </a:p>
          <a:p>
            <a:pPr marL="0" indent="0">
              <a:buNone/>
            </a:pPr>
            <a:r>
              <a:rPr lang="en-CA" sz="2400" dirty="0"/>
              <a:t>Startups often encounter significant obstacles in budget forecasting, such as unpredictable market </a:t>
            </a:r>
            <a:r>
              <a:rPr lang="en-CA" sz="2400" dirty="0" err="1"/>
              <a:t>costs,lack</a:t>
            </a:r>
            <a:r>
              <a:rPr lang="en-CA" sz="2400" dirty="0"/>
              <a:t> of historical data and cash flow instability, complicating their financial planning.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4DB3B9C-2F22-E265-70FA-E71A3D2978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255238" y="-1"/>
            <a:ext cx="4936761" cy="6857999"/>
          </a:xfrm>
        </p:spPr>
      </p:pic>
    </p:spTree>
    <p:extLst>
      <p:ext uri="{BB962C8B-B14F-4D97-AF65-F5344CB8AC3E}">
        <p14:creationId xmlns:p14="http://schemas.microsoft.com/office/powerpoint/2010/main" val="4121181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1089E-A5CD-992C-1198-297DC46CD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838200" y="-45718"/>
            <a:ext cx="10515600" cy="45719"/>
          </a:xfrm>
        </p:spPr>
        <p:txBody>
          <a:bodyPr>
            <a:normAutofit fontScale="90000"/>
          </a:bodyPr>
          <a:lstStyle/>
          <a:p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33C5C-8C86-1A0F-423E-368EBC33E8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9902" y="101755"/>
            <a:ext cx="6865495" cy="6598847"/>
          </a:xfrm>
        </p:spPr>
        <p:txBody>
          <a:bodyPr/>
          <a:lstStyle/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	</a:t>
            </a:r>
            <a:r>
              <a:rPr lang="en-CA" sz="5400" dirty="0"/>
              <a:t>“A goal without a      	 plan is just a wish”</a:t>
            </a:r>
            <a:endParaRPr lang="en-CA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120CAFB-02C8-AF18-910E-BFE389D39B0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854846" y="0"/>
            <a:ext cx="4337154" cy="6857999"/>
          </a:xfrm>
        </p:spPr>
      </p:pic>
    </p:spTree>
    <p:extLst>
      <p:ext uri="{BB962C8B-B14F-4D97-AF65-F5344CB8AC3E}">
        <p14:creationId xmlns:p14="http://schemas.microsoft.com/office/powerpoint/2010/main" val="1527261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64F4AD9-3C48-C299-1023-8C46A6BBD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24262"/>
          </a:xfrm>
        </p:spPr>
        <p:txBody>
          <a:bodyPr>
            <a:normAutofit/>
          </a:bodyPr>
          <a:lstStyle/>
          <a:p>
            <a:r>
              <a:rPr lang="en-CA" sz="4800" dirty="0"/>
              <a:t>CONCLUSION AND NEXT STEP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E2BFF5-73C6-3F1C-00F0-C3E2E144DC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852" y="1124263"/>
            <a:ext cx="5920364" cy="55763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sz="2400" dirty="0"/>
              <a:t>DEVELOP BUDGET</a:t>
            </a:r>
          </a:p>
          <a:p>
            <a:pPr marL="0" indent="0">
              <a:buNone/>
            </a:pPr>
            <a:endParaRPr lang="en-CA" sz="2400" dirty="0"/>
          </a:p>
          <a:p>
            <a:pPr marL="0" indent="0">
              <a:buNone/>
            </a:pPr>
            <a:r>
              <a:rPr lang="en-CA" sz="2000" dirty="0"/>
              <a:t>Start creating your first detailed budget forecast to guide your financial strategy</a:t>
            </a:r>
            <a:r>
              <a:rPr lang="en-CA" sz="2400" dirty="0"/>
              <a:t>.</a:t>
            </a:r>
          </a:p>
          <a:p>
            <a:pPr marL="0" indent="0">
              <a:buNone/>
            </a:pPr>
            <a:endParaRPr lang="en-CA" sz="2400" dirty="0"/>
          </a:p>
          <a:p>
            <a:pPr marL="0" indent="0">
              <a:buNone/>
            </a:pPr>
            <a:r>
              <a:rPr lang="en-CA" sz="2400" dirty="0"/>
              <a:t>REGULAR REVIEW</a:t>
            </a:r>
          </a:p>
          <a:p>
            <a:pPr marL="0" indent="0">
              <a:buNone/>
            </a:pPr>
            <a:endParaRPr lang="en-CA" sz="2400" dirty="0"/>
          </a:p>
          <a:p>
            <a:pPr marL="0" indent="0">
              <a:buNone/>
            </a:pPr>
            <a:r>
              <a:rPr lang="en-CA" sz="2000" dirty="0"/>
              <a:t>Schedule regular reviews and updates to keep your budget accurate and relevant.</a:t>
            </a:r>
          </a:p>
          <a:p>
            <a:pPr marL="0" indent="0">
              <a:buNone/>
            </a:pPr>
            <a:endParaRPr lang="en-CA" sz="2400" dirty="0"/>
          </a:p>
          <a:p>
            <a:pPr marL="0" indent="0">
              <a:buNone/>
            </a:pPr>
            <a:r>
              <a:rPr lang="en-CA" sz="2400" dirty="0"/>
              <a:t>CONTINUE LEARNING</a:t>
            </a:r>
          </a:p>
          <a:p>
            <a:pPr marL="0" indent="0">
              <a:buNone/>
            </a:pPr>
            <a:endParaRPr lang="en-CA" sz="2400" dirty="0"/>
          </a:p>
          <a:p>
            <a:pPr marL="0" indent="0">
              <a:buNone/>
            </a:pPr>
            <a:r>
              <a:rPr lang="en-CA" sz="2000" dirty="0"/>
              <a:t>Stay informed about budgeting best practices to enhance you financial decision-making skills.</a:t>
            </a:r>
          </a:p>
          <a:p>
            <a:pPr marL="0" indent="0">
              <a:buNone/>
            </a:pPr>
            <a:endParaRPr lang="en-CA" sz="24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124C7F2-69CE-9939-A141-BCBD0813A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45216" y="1124263"/>
            <a:ext cx="5560600" cy="55763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sz="2400" dirty="0"/>
              <a:t>CHOOSE TOOLS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sz="2000" dirty="0"/>
              <a:t>Select appropriate tools and data sources to streamline your budgeting process.</a:t>
            </a:r>
          </a:p>
          <a:p>
            <a:pPr marL="0" indent="0">
              <a:buNone/>
            </a:pPr>
            <a:endParaRPr lang="en-CA" sz="2000" dirty="0"/>
          </a:p>
          <a:p>
            <a:pPr marL="0" indent="0">
              <a:buNone/>
            </a:pPr>
            <a:r>
              <a:rPr lang="en-CA" sz="2400" dirty="0"/>
              <a:t>ENGAGE TEAM</a:t>
            </a:r>
          </a:p>
          <a:p>
            <a:pPr marL="0" indent="0">
              <a:buNone/>
            </a:pPr>
            <a:endParaRPr lang="en-CA" sz="2400" dirty="0"/>
          </a:p>
          <a:p>
            <a:pPr marL="0" indent="0">
              <a:buNone/>
            </a:pPr>
            <a:r>
              <a:rPr lang="en-CA" sz="2000" dirty="0"/>
              <a:t>Involve your team in the process to ensure comprehensive insights and input.</a:t>
            </a:r>
          </a:p>
        </p:txBody>
      </p:sp>
    </p:spTree>
    <p:extLst>
      <p:ext uri="{BB962C8B-B14F-4D97-AF65-F5344CB8AC3E}">
        <p14:creationId xmlns:p14="http://schemas.microsoft.com/office/powerpoint/2010/main" val="13912462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2A39166-8E48-5934-416A-FFC264E56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0567"/>
          </a:xfrm>
        </p:spPr>
        <p:txBody>
          <a:bodyPr>
            <a:normAutofit/>
          </a:bodyPr>
          <a:lstStyle/>
          <a:p>
            <a:r>
              <a:rPr lang="en-CA" sz="13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94277794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264</TotalTime>
  <Words>934</Words>
  <Application>Microsoft Office PowerPoint</Application>
  <PresentationFormat>Widescreen</PresentationFormat>
  <Paragraphs>196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Depth</vt:lpstr>
      <vt:lpstr>BUDGET  FORECASTING         FOR              STARTUPS       </vt:lpstr>
      <vt:lpstr>BUDGET FORECASTING</vt:lpstr>
      <vt:lpstr>Why budget forecasting is  Essential for startups</vt:lpstr>
      <vt:lpstr>  OBJECTIVES</vt:lpstr>
      <vt:lpstr>TYPES OF BUDGETS</vt:lpstr>
      <vt:lpstr>METHODS OF FORECASTING</vt:lpstr>
      <vt:lpstr>PowerPoint Presentation</vt:lpstr>
      <vt:lpstr>TOOLS AND DATA INPUTS</vt:lpstr>
      <vt:lpstr>Startups perspective in budget forecasting</vt:lpstr>
      <vt:lpstr>ADVANTAGES OF BUDGET FORECASTING</vt:lpstr>
      <vt:lpstr>STEPS IN BUDGET FORECASTING</vt:lpstr>
      <vt:lpstr>PowerPoint Presentation</vt:lpstr>
      <vt:lpstr>PowerPoint Presentation</vt:lpstr>
      <vt:lpstr>CONCLUSION AND NEXT STEP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BUDGET  FORECASTING         FOR              STARTUPS       </dc:title>
  <dc:creator>jainil patel</dc:creator>
  <cp:lastModifiedBy>919054030102</cp:lastModifiedBy>
  <cp:revision>2</cp:revision>
  <dcterms:created xsi:type="dcterms:W3CDTF">2026-03-21T08:39:11Z</dcterms:created>
  <dcterms:modified xsi:type="dcterms:W3CDTF">2026-03-23T11:24:16Z</dcterms:modified>
</cp:coreProperties>
</file>